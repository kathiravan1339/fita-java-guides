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4" r:id="rId5"/>
    <p:sldMasterId id="2147483687" r:id="rId6"/>
    <p:sldMasterId id="2147483700" r:id="rId7"/>
    <p:sldMasterId id="2147483713" r:id="rId8"/>
    <p:sldMasterId id="2147483726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iOHYt5aRNKCKFYswntqyqJ+izh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20" Type="http://schemas.openxmlformats.org/officeDocument/2006/relationships/slide" Target="slides/slide1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22" Type="http://schemas.openxmlformats.org/officeDocument/2006/relationships/slide" Target="slides/slide12.xml"/><Relationship Id="rId44" Type="http://schemas.openxmlformats.org/officeDocument/2006/relationships/slide" Target="slides/slide34.xml"/><Relationship Id="rId21" Type="http://schemas.openxmlformats.org/officeDocument/2006/relationships/slide" Target="slides/slide11.xml"/><Relationship Id="rId43" Type="http://schemas.openxmlformats.org/officeDocument/2006/relationships/slide" Target="slides/slide33.xml"/><Relationship Id="rId24" Type="http://schemas.openxmlformats.org/officeDocument/2006/relationships/slide" Target="slides/slide14.xml"/><Relationship Id="rId46" Type="http://schemas.openxmlformats.org/officeDocument/2006/relationships/slide" Target="slides/slide36.xml"/><Relationship Id="rId23" Type="http://schemas.openxmlformats.org/officeDocument/2006/relationships/slide" Target="slides/slide13.xml"/><Relationship Id="rId45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47" Type="http://customschemas.google.com/relationships/presentationmetadata" Target="meta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slide" Target="slides/slide29.xml"/><Relationship Id="rId16" Type="http://schemas.openxmlformats.org/officeDocument/2006/relationships/slide" Target="slides/slide6.xml"/><Relationship Id="rId38" Type="http://schemas.openxmlformats.org/officeDocument/2006/relationships/slide" Target="slides/slide28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3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5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5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3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3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5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5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5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9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5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0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0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6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1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1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1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1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1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1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6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4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2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6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6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4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4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6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6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6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6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7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7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6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8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6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9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6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0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0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7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7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7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7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71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7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7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72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72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2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72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2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2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7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7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7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4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7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7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7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7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7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7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7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7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7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7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7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7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7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7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7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7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7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7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7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7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7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7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7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7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7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7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7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7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7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7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7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8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8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8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8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8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8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8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8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8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8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8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8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8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8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8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8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8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8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8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8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8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8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8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8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8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8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8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4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8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8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85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8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8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8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8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8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8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8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8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8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8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8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8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8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8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8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8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8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8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89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8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8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8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90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9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90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9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9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9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9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9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91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9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9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9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92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92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9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9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9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9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9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93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93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9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9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9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94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94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94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94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94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94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9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9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9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4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95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9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9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9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9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9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9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9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9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9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9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9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9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9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9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9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9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9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9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9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0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100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100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0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0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10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0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10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101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10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0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10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0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0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102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0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0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10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103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03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10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0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10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0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0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04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104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10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0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10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105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105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105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105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105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105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10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10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10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4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4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5" name="Google Shape;465;p4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0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10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107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0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0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10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108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10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10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p10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10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10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10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10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" name="Google Shape;488;p10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0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11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11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11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1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1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1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11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1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1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1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11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11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11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11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11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11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1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1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11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11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" name="Google Shape;524;p11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1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1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1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1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1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11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11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1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1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1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1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1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11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1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4" name="Google Shape;544;p11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5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p5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117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11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1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11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118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11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1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6" name="Google Shape;566;p11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1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11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11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1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p11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2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12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7" name="Google Shape;577;p12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" name="Google Shape;578;p12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21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12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12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3" name="Google Shape;583;p12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2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2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22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12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2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2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12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2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23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23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2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2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p12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12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12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124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2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2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p12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125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125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12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12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4" name="Google Shape;614;p12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2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2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12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126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126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12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12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12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2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127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127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8" name="Google Shape;628;p127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127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127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127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12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12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12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3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3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3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3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3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39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4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4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9" name="Google Shape;189;p4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" name="Google Shape;190;p4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7" name="Google Shape;277;p4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4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4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7" name="Google Shape;367;p4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9" name="Google Shape;369;p4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0" name="Google Shape;370;p4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7" name="Google Shape;457;p4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8" name="Google Shape;458;p4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4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0" name="Google Shape;460;p4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9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7" name="Google Shape;547;p49"/>
          <p:cNvSpPr txBox="1"/>
          <p:nvPr>
            <p:ph idx="1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8" name="Google Shape;548;p4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4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"/>
          <p:cNvSpPr txBox="1"/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Full Stack Development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"/>
          <p:cNvSpPr txBox="1"/>
          <p:nvPr>
            <p:ph idx="1"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Introduction to Java, Frontend, Backend, Databases, JVM, JRE, JDK and Eclipse IDE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Java Full Stack?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Full Stack Development means developing both front end and back end applications using Java technologies.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 end handles user interface and user interaction.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 end handles business logic, API and server-side processing.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stores application data.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 End Development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 end is the visible part of the application.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Technologies: HTML, CSS, JavaScript, React, Angular,Thymeleaf,jquery.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user experience and design.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 , CSS and JavaScript are the core pillars of front end Development.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are programming language to create a browser Based Application.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React js is a JavaScript Library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Bootstrap(Twitter) and Tailwind CSS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 End Development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 End is the server-side part of the application.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Technologies: Java, Spring Boot, JavaScript,Python,.Net,PHP.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business logic, API and authentication.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JS2E,J2EE,Jakarta EE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MVC Architecture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Framework, Spring MVC, Spring Webflux,Spring Security,Spring Boot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Hibernate, Spring JPA and Spring JDBC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"/>
          <p:cNvSpPr txBox="1"/>
          <p:nvPr>
            <p:ph idx="4294967295" type="title"/>
          </p:nvPr>
        </p:nvSpPr>
        <p:spPr>
          <a:xfrm>
            <a:off x="457200" y="221040"/>
            <a:ext cx="8228520" cy="124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BUILD and VERSION CONTROL TOOLS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"/>
          <p:cNvSpPr txBox="1"/>
          <p:nvPr>
            <p:ph idx="4294967295"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Build Tool: Maven, Gradle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Version Control: Git and Git Hub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6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Databases store and manage application data.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MySQL, Oracle, PostgreSQL, MongoDB,SQLite,H2 Databases.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Supports data retrieval, updates and transactions.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MySql Mapping is difficult-- DB→Table(Rows and Columns)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MongoDb Mapping is easy—DB→Collection→Document→BSON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(Binary JSON light Weight)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0" y="4016160"/>
            <a:ext cx="4859280" cy="273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"/>
          <p:cNvSpPr txBox="1"/>
          <p:nvPr>
            <p:ph idx="4294967295"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"/>
          <p:cNvSpPr txBox="1"/>
          <p:nvPr>
            <p:ph idx="4294967295"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000"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Apache Tomcat Server- Acts like a engine for the programming.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Apache Tomcat is an open-source web server and servlet container developed by the Apache Software Foundation. It’s mainly used to run Java-based web applications.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Tomcat implements key Java web technologies: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Servlets (Java classes that handle requests/responses)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JSP (JavaServer Pages) (dynamic web pages)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WebSocket (real-time communication)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So instead of serving just static HTML like a basic web server, Tomcat can execute Java code on the server.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Other Servers in Market :Glassfish,Nginx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Full Stack Architecture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"/>
          <p:cNvSpPr/>
          <p:nvPr/>
        </p:nvSpPr>
        <p:spPr>
          <a:xfrm>
            <a:off x="457200" y="1828800"/>
            <a:ext cx="1827360" cy="91296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 end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HTML, CSS,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JavaScript, React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8"/>
          <p:cNvSpPr/>
          <p:nvPr/>
        </p:nvSpPr>
        <p:spPr>
          <a:xfrm>
            <a:off x="3200400" y="1828800"/>
            <a:ext cx="1827360" cy="91296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 end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Java,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"/>
          <p:cNvSpPr/>
          <p:nvPr/>
        </p:nvSpPr>
        <p:spPr>
          <a:xfrm>
            <a:off x="5943600" y="1828800"/>
            <a:ext cx="1827360" cy="91296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MySQL,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8"/>
          <p:cNvCxnSpPr/>
          <p:nvPr/>
        </p:nvCxnSpPr>
        <p:spPr>
          <a:xfrm>
            <a:off x="2286000" y="2286000"/>
            <a:ext cx="914400" cy="360"/>
          </a:xfrm>
          <a:prstGeom prst="straightConnector1">
            <a:avLst/>
          </a:prstGeom>
          <a:noFill/>
          <a:ln cap="flat" cmpd="sng" w="255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8"/>
          <p:cNvCxnSpPr/>
          <p:nvPr/>
        </p:nvCxnSpPr>
        <p:spPr>
          <a:xfrm>
            <a:off x="5029200" y="2286000"/>
            <a:ext cx="914400" cy="360"/>
          </a:xfrm>
          <a:prstGeom prst="straightConnector1">
            <a:avLst/>
          </a:prstGeom>
          <a:noFill/>
          <a:ln cap="flat" cmpd="sng" w="255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to Java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9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is a high-level(easy to read,write and Understand), object-oriented programming language.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was first developed in 1990s by James Gosling(Green Team)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Its initially name was OAK. In 1994 OAK was renamed as Java.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for Sun Micro Systems.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Oracle is the Owner of Java from 2010. Sun Micro System is Subsidiary for Java.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Platform independent because of JVM.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for web, desktop, mobile and enterprise applications.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"/>
          <p:cNvSpPr txBox="1"/>
          <p:nvPr>
            <p:ph idx="4294967295"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Java logo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00" y="1935720"/>
            <a:ext cx="6928920" cy="346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"/>
          <p:cNvSpPr txBox="1"/>
          <p:nvPr>
            <p:ph idx="4294967295"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Java Version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1"/>
          <p:cNvSpPr txBox="1"/>
          <p:nvPr>
            <p:ph idx="4294967295"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Jdk -26 but LTS version is Java 25.Still widely used java 21.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000" y="0"/>
            <a:ext cx="7145280" cy="643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0" y="106920"/>
            <a:ext cx="9142920" cy="60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4"/>
          <p:cNvSpPr txBox="1"/>
          <p:nvPr>
            <p:ph idx="4294967295"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Why Java?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4"/>
          <p:cNvSpPr txBox="1"/>
          <p:nvPr>
            <p:ph idx="4294967295"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3000"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Platform Independent-“Write Once, Run Anywhere” -This means Java programs can run on any operating system that has a JVM installed.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Object-Oriented Language-This helps build:Reusable code,Modular applications,Large enterprise systems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Secure-Java provides:No direct memory access,Bytecode verification,Automatic garbage collection,Secure runtime environment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5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JVM?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JVM stands for Java Virtual Machine.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executes Java bytecode.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platform independence.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reads Bytecode and Convert to Machine Code.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Executes the program.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6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JRE?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6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JRE stands for Java Runtime Environment.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Contains JVM and libraries required to run Java applications.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Cannot develop program because no complier included.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7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JDK?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7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JDK stands for Java Development Kit.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Contains JRE + development tools like compiler and debugger.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JIT (Just in time complier used to increase the java performance)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Develop,Complie and Run Application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Compiler  Converts Java code to bytecode(javac).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8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JDK, JRE and JVM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00" y="1322280"/>
            <a:ext cx="5265360" cy="5336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18"/>
          <p:cNvSpPr/>
          <p:nvPr/>
        </p:nvSpPr>
        <p:spPr>
          <a:xfrm>
            <a:off x="7284240" y="2160000"/>
            <a:ext cx="1354680" cy="27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Program (.java)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Compiled by JDK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Bytecode (.class)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Executed by JVM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000" y="597600"/>
            <a:ext cx="5324760" cy="5521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0" y="1080000"/>
            <a:ext cx="8974440" cy="4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480"/>
            <a:ext cx="9142560" cy="609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2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Installation of Java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2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 JDK from Oracle official website.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 JDK on your system.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JAVA_HOME environment variable.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Verify installation using 'java -version' command.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3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Installation of Eclipse and Intellij IDE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3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 Eclipse IDE from official Eclipse website.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 Eclipse and launch the IDE.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JDK path if required.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Java projects and start coding.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Intellij is light Weight compared to eclipse 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.JAR file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4"/>
          <p:cNvSpPr txBox="1"/>
          <p:nvPr>
            <p:ph idx="4294967295"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Java Program Example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 txBox="1"/>
          <p:nvPr>
            <p:ph idx="4294967295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Hello World Program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class HelloWorld {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 World");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5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Why java Platform Independant?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5" name="Google Shape;7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840" y="1836360"/>
            <a:ext cx="4321800" cy="446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6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What is Complier and Interpreter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3000"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Both are used to convert programming code into machine-understandable instructions. Execution Speed is Faster.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Compiler---&gt;A compiler translates the entire program at once into machine code or bytecode.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Interpreter--&gt; An interpreter translates and executes code line by line. Eg : Python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7"/>
          <p:cNvSpPr txBox="1"/>
          <p:nvPr>
            <p:ph idx="4294967295"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Is Java a Complier Language or Interpreter Language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7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Java is both a compiled and interpreted language.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00" y="2576880"/>
            <a:ext cx="7419240" cy="3542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8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Main() Method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8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000"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public static void main(String[] args) .This is the entry point of a Java application.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Public Means----&gt;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✅ Accessible from anywhere.JVM must access the method to start the program.If main() is not public:❌ JVM cannot call it.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Void----&gt;Means:✅ Method does not return anything.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main() only executes program logic.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Main----&gt;This is the predefined method name recognized by JVM.JVM specifically searches for:If method name changes:❌ Program won't start automatically.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Static Means----&gt;✅ Method belongs to the class, not object.JVM can call main() without creating object.Without StaticIf main() were non-static:void main(String[] args)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JVM would need: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Test t = new Test();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t.main();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To avoid object creation, main() is static.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9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String args[]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9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8000"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Used to receive command-line arguments.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System.out.println(args[0]);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java Test Hello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java Test Hello . o/p:- Hello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0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DataTypes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0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Primitive Data Types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Non-Primitive Data Types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to store different kinds of values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1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DataTypes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2" name="Google Shape;8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0" y="1264680"/>
            <a:ext cx="8951760" cy="503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2"/>
          <p:cNvSpPr txBox="1"/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DataTypes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8" name="Google Shape;8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0" y="1576440"/>
            <a:ext cx="8975160" cy="443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3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Variables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3"/>
          <p:cNvSpPr txBox="1"/>
          <p:nvPr>
            <p:ph idx="4294967295" type="body"/>
          </p:nvPr>
        </p:nvSpPr>
        <p:spPr>
          <a:xfrm>
            <a:off x="286300" y="1081095"/>
            <a:ext cx="8229000" cy="3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 variable is a named memory location used to store data.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Syntax: datatype variableName;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Example:public class Demo {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int age = 25;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float height = 5.9f;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char grade = 'A';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boolean passed = true;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String name = "John";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System.out.println(age);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System.out.println(height);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System.out.println(grade);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System.out.println(passed);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    System.out.println(name);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1260000"/>
            <a:ext cx="8819640" cy="34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60" y="4140000"/>
            <a:ext cx="9122400" cy="233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5"/>
          <p:cNvSpPr txBox="1"/>
          <p:nvPr>
            <p:ph idx="4294967295"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b="0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Tokens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5"/>
          <p:cNvSpPr txBox="1"/>
          <p:nvPr>
            <p:ph idx="4294967295"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Tokens are the smallest individual units in a Java program.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Java programs are made up of tokens.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Tokens in java---&gt; Keywords,identifiers,Constant,Special Symbol,Operators,Comments,Separators.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Total 68 reserved keywords in java.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407160"/>
            <a:ext cx="8327880" cy="623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